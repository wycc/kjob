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kjob 讓使用者在 Notebook 寫好程式後，把訓練交給叢集上的 GPU 執行，指令和國網的 Slurm 很像。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工作會複製 Notebook 的 image、工作目錄和共用磁碟，所以程式不用改路徑。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-title"/>
          <p:cNvSpPr txBox="1"/>
          <p:nvPr/>
        </p:nvSpPr>
        <p:spPr>
          <a:xfrm>
            <a:off x="731520" y="1234440"/>
            <a:ext cx="603504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  <a:ea typeface="Microsoft JhengHei"/>
              </a:rPr>
              <a:t>kjob</a:t>
            </a:r>
          </a:p>
        </p:txBody>
      </p:sp>
      <p:sp>
        <p:nvSpPr>
          <p:cNvPr id="3" name="deck-sub"/>
          <p:cNvSpPr txBox="1"/>
          <p:nvPr/>
        </p:nvSpPr>
        <p:spPr>
          <a:xfrm>
            <a:off x="731520" y="251460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4FD69C"/>
                </a:solidFill>
                <a:latin typeface="Calibri"/>
                <a:ea typeface="Microsoft JhengHei"/>
              </a:rPr>
              <a:t>在 Notebook 裡，像國網一樣提交 GPU 工作</a:t>
            </a:r>
          </a:p>
        </p:txBody>
      </p:sp>
      <p:sp>
        <p:nvSpPr>
          <p:cNvPr id="4" name="deck-topics"/>
          <p:cNvSpPr txBox="1"/>
          <p:nvPr/>
        </p:nvSpPr>
        <p:spPr>
          <a:xfrm>
            <a:off x="731520" y="384048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C9D4DE"/>
                </a:solidFill>
                <a:latin typeface="Calibri"/>
                <a:ea typeface="Microsoft JhengHei"/>
              </a:rPr>
              <a:t>安裝 · 提交 · 監看 · 叢集狀態 · AI 助手</a:t>
            </a:r>
          </a:p>
        </p:txBody>
      </p:sp>
      <p:sp>
        <p:nvSpPr>
          <p:cNvPr id="5" name="deck-url"/>
          <p:cNvSpPr txBox="1"/>
          <p:nvPr/>
        </p:nvSpPr>
        <p:spPr>
          <a:xfrm>
            <a:off x="731520" y="598932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8597A8"/>
                </a:solidFill>
                <a:latin typeface="Consolas"/>
                <a:ea typeface="Microsoft JhengHei"/>
              </a:rPr>
              <a:t>github.com/MarkJiang-maji/kjob</a:t>
            </a:r>
          </a:p>
        </p:txBody>
      </p:sp>
      <p:sp>
        <p:nvSpPr>
          <p:cNvPr id="6" name="hero-code-bg"/>
          <p:cNvSpPr/>
          <p:nvPr/>
        </p:nvSpPr>
        <p:spPr>
          <a:xfrm>
            <a:off x="7040880" y="1554480"/>
            <a:ext cx="4480560" cy="301752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ro-code"/>
          <p:cNvSpPr txBox="1"/>
          <p:nvPr/>
        </p:nvSpPr>
        <p:spPr>
          <a:xfrm>
            <a:off x="7269480" y="1719072"/>
            <a:ext cx="40233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ksinfo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ksub -G 1 -g v100 train.py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Submitted job train-3f2a9c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klogs train-3f2a9c -f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epoch 1/50  loss 2.31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epoch 2/50  loss 1.87</a:t>
            </a:r>
          </a:p>
          <a:p>
            <a:pPr algn="l"/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kjob 做了什麼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把 Notebook 裡的程式交給叢集執行，環境完全一樣</a:t>
            </a:r>
          </a:p>
        </p:txBody>
      </p:sp>
      <p:sp>
        <p:nvSpPr>
          <p:cNvPr id="4" name="flow-0"/>
          <p:cNvSpPr/>
          <p:nvPr/>
        </p:nvSpPr>
        <p:spPr>
          <a:xfrm>
            <a:off x="54864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dge-1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1</a:t>
            </a:r>
          </a:p>
        </p:txBody>
      </p:sp>
      <p:sp>
        <p:nvSpPr>
          <p:cNvPr id="6" name="flow-head-0"/>
          <p:cNvSpPr txBox="1"/>
          <p:nvPr/>
        </p:nvSpPr>
        <p:spPr>
          <a:xfrm>
            <a:off x="73152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Notebook 寫程式</a:t>
            </a:r>
          </a:p>
        </p:txBody>
      </p:sp>
      <p:sp>
        <p:nvSpPr>
          <p:cNvPr id="7" name="flow-sub-0"/>
          <p:cNvSpPr txBox="1"/>
          <p:nvPr/>
        </p:nvSpPr>
        <p:spPr>
          <a:xfrm>
            <a:off x="73152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onsolas"/>
                <a:ea typeface="Microsoft JhengHei"/>
              </a:rPr>
              <a:t>ksub train.py</a:t>
            </a:r>
          </a:p>
        </p:txBody>
      </p:sp>
      <p:sp>
        <p:nvSpPr>
          <p:cNvPr id="8" name="arrow-0"/>
          <p:cNvSpPr/>
          <p:nvPr/>
        </p:nvSpPr>
        <p:spPr>
          <a:xfrm>
            <a:off x="303580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1"/>
          <p:cNvSpPr/>
          <p:nvPr/>
        </p:nvSpPr>
        <p:spPr>
          <a:xfrm>
            <a:off x="338328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-2"/>
          <p:cNvSpPr/>
          <p:nvPr/>
        </p:nvSpPr>
        <p:spPr>
          <a:xfrm>
            <a:off x="356616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2</a:t>
            </a:r>
          </a:p>
        </p:txBody>
      </p:sp>
      <p:sp>
        <p:nvSpPr>
          <p:cNvPr id="11" name="flow-head-1"/>
          <p:cNvSpPr txBox="1"/>
          <p:nvPr/>
        </p:nvSpPr>
        <p:spPr>
          <a:xfrm>
            <a:off x="356616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叢集排程</a:t>
            </a:r>
          </a:p>
        </p:txBody>
      </p:sp>
      <p:sp>
        <p:nvSpPr>
          <p:cNvPr id="12" name="flow-sub-1"/>
          <p:cNvSpPr txBox="1"/>
          <p:nvPr/>
        </p:nvSpPr>
        <p:spPr>
          <a:xfrm>
            <a:off x="356616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等到指定的 GPU 有空</a:t>
            </a:r>
          </a:p>
        </p:txBody>
      </p:sp>
      <p:sp>
        <p:nvSpPr>
          <p:cNvPr id="13" name="arrow-1"/>
          <p:cNvSpPr/>
          <p:nvPr/>
        </p:nvSpPr>
        <p:spPr>
          <a:xfrm>
            <a:off x="587044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ow-2"/>
          <p:cNvSpPr/>
          <p:nvPr/>
        </p:nvSpPr>
        <p:spPr>
          <a:xfrm>
            <a:off x="621792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-3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3</a:t>
            </a:r>
          </a:p>
        </p:txBody>
      </p:sp>
      <p:sp>
        <p:nvSpPr>
          <p:cNvPr id="16" name="flow-head-2"/>
          <p:cNvSpPr txBox="1"/>
          <p:nvPr/>
        </p:nvSpPr>
        <p:spPr>
          <a:xfrm>
            <a:off x="640080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GPU 節點執行</a:t>
            </a:r>
          </a:p>
        </p:txBody>
      </p:sp>
      <p:sp>
        <p:nvSpPr>
          <p:cNvPr id="17" name="flow-sub-2"/>
          <p:cNvSpPr txBox="1"/>
          <p:nvPr/>
        </p:nvSpPr>
        <p:spPr>
          <a:xfrm>
            <a:off x="640080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同 image、同路徑、同磁碟</a:t>
            </a:r>
          </a:p>
        </p:txBody>
      </p:sp>
      <p:sp>
        <p:nvSpPr>
          <p:cNvPr id="18" name="arrow-2"/>
          <p:cNvSpPr/>
          <p:nvPr/>
        </p:nvSpPr>
        <p:spPr>
          <a:xfrm>
            <a:off x="8705088" y="2697480"/>
            <a:ext cx="301752" cy="320040"/>
          </a:xfrm>
          <a:prstGeom prst="rightArrow">
            <a:avLst/>
          </a:prstGeom>
          <a:solidFill>
            <a:srgbClr val="23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ow-3"/>
          <p:cNvSpPr/>
          <p:nvPr/>
        </p:nvSpPr>
        <p:spPr>
          <a:xfrm>
            <a:off x="9052560" y="1828800"/>
            <a:ext cx="2423160" cy="20116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dge-4"/>
          <p:cNvSpPr/>
          <p:nvPr/>
        </p:nvSpPr>
        <p:spPr>
          <a:xfrm>
            <a:off x="9235440" y="2011680"/>
            <a:ext cx="502920" cy="50292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Microsoft JhengHei"/>
              </a:rPr>
              <a:t>4</a:t>
            </a:r>
          </a:p>
        </p:txBody>
      </p:sp>
      <p:sp>
        <p:nvSpPr>
          <p:cNvPr id="21" name="flow-head-3"/>
          <p:cNvSpPr txBox="1"/>
          <p:nvPr/>
        </p:nvSpPr>
        <p:spPr>
          <a:xfrm>
            <a:off x="9235440" y="265176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結果回到 Notebook</a:t>
            </a:r>
          </a:p>
        </p:txBody>
      </p:sp>
      <p:sp>
        <p:nvSpPr>
          <p:cNvPr id="22" name="flow-sub-3"/>
          <p:cNvSpPr txBox="1"/>
          <p:nvPr/>
        </p:nvSpPr>
        <p:spPr>
          <a:xfrm>
            <a:off x="9235440" y="3154680"/>
            <a:ext cx="2103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~/kjob-logs/ 與你的輸出檔</a:t>
            </a:r>
          </a:p>
        </p:txBody>
      </p:sp>
      <p:sp>
        <p:nvSpPr>
          <p:cNvPr id="23" name="card-Notebook 不"/>
          <p:cNvSpPr/>
          <p:nvPr/>
        </p:nvSpPr>
        <p:spPr>
          <a:xfrm>
            <a:off x="548640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head-Notebook 不"/>
          <p:cNvSpPr txBox="1"/>
          <p:nvPr/>
        </p:nvSpPr>
        <p:spPr>
          <a:xfrm>
            <a:off x="731520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Notebook 不必占 GPU</a:t>
            </a:r>
          </a:p>
        </p:txBody>
      </p:sp>
      <p:sp>
        <p:nvSpPr>
          <p:cNvPr id="25" name="card-body-Notebook 不"/>
          <p:cNvSpPr txBox="1"/>
          <p:nvPr/>
        </p:nvSpPr>
        <p:spPr>
          <a:xfrm>
            <a:off x="731520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訓練交給工作，跑完就釋放 GPU 給別人</a:t>
            </a:r>
          </a:p>
        </p:txBody>
      </p:sp>
      <p:sp>
        <p:nvSpPr>
          <p:cNvPr id="26" name="card-路徑不用改"/>
          <p:cNvSpPr/>
          <p:nvPr/>
        </p:nvSpPr>
        <p:spPr>
          <a:xfrm>
            <a:off x="4297679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-head-路徑不用改"/>
          <p:cNvSpPr txBox="1"/>
          <p:nvPr/>
        </p:nvSpPr>
        <p:spPr>
          <a:xfrm>
            <a:off x="4480559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路徑不用改</a:t>
            </a:r>
          </a:p>
        </p:txBody>
      </p:sp>
      <p:sp>
        <p:nvSpPr>
          <p:cNvPr id="28" name="card-body-路徑不用改"/>
          <p:cNvSpPr txBox="1"/>
          <p:nvPr/>
        </p:nvSpPr>
        <p:spPr>
          <a:xfrm>
            <a:off x="4480559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/home/jovyan、群組資料夾在工作裡位置相同</a:t>
            </a:r>
          </a:p>
        </p:txBody>
      </p:sp>
      <p:sp>
        <p:nvSpPr>
          <p:cNvPr id="29" name="card-關掉瀏覽器也沒關係"/>
          <p:cNvSpPr/>
          <p:nvPr/>
        </p:nvSpPr>
        <p:spPr>
          <a:xfrm>
            <a:off x="8046719" y="43434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-head-關掉瀏覽器也沒關係"/>
          <p:cNvSpPr txBox="1"/>
          <p:nvPr/>
        </p:nvSpPr>
        <p:spPr>
          <a:xfrm>
            <a:off x="8229599" y="448056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關掉瀏覽器也沒關係</a:t>
            </a:r>
          </a:p>
        </p:txBody>
      </p:sp>
      <p:sp>
        <p:nvSpPr>
          <p:cNvPr id="31" name="card-body-關掉瀏覽器也沒關係"/>
          <p:cNvSpPr txBox="1"/>
          <p:nvPr/>
        </p:nvSpPr>
        <p:spPr>
          <a:xfrm>
            <a:off x="8229599" y="4910328"/>
            <a:ext cx="315468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輸出即時存檔，隨時用 klogs 查看</a:t>
            </a:r>
          </a:p>
        </p:txBody>
      </p:sp>
      <p:sp>
        <p:nvSpPr>
          <p:cNvPr id="32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會用國網，就會用 kjob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指令名稱與用法對照</a:t>
            </a:r>
          </a:p>
        </p:txBody>
      </p:sp>
      <p:graphicFrame>
        <p:nvGraphicFramePr>
          <p:cNvPr id="4" name="map"/>
          <p:cNvGraphicFramePr>
            <a:graphicFrameLocks noGrp="1"/>
          </p:cNvGraphicFramePr>
          <p:nvPr/>
        </p:nvGraphicFramePr>
        <p:xfrm>
          <a:off x="548640" y="1554480"/>
          <a:ext cx="11064240" cy="4425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  <a:gridCol w="2743200"/>
                <a:gridCol w="53949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國網 / Slurm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kjob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用途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sbatch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ksub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提交後立即返回，工作在背景執行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srun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ksrun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提交並即時看輸出，Ctrl-C 取消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squeue -u $USER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kqueue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自己的工作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squeue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kqueue -A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全叢集的 GPU 工作與排隊原因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sinfo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ksinfo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每種 GPU：總數、使用中、空閒、排隊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scontrol show job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kshow NAME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單一工作的詳細資訊與事件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sacct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kacct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提交紀錄、結束代碼、執行時間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srun --jobid --pty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kexec NAME [指令]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進到執行中的工作：跑指令或開 shell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scancel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kcancel NAME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取消工作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#SBATCH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#SBATCH / #KJOB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腳本開頭寫資源設定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安裝：在 Notebook 的 Terminal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JupyterLab：File → New → Terminal；遠端桌面：開終端機</a:t>
            </a:r>
          </a:p>
        </p:txBody>
      </p:sp>
      <p:sp>
        <p:nvSpPr>
          <p:cNvPr id="4" name="install-code-bg"/>
          <p:cNvSpPr/>
          <p:nvPr/>
        </p:nvSpPr>
        <p:spPr>
          <a:xfrm>
            <a:off x="548640" y="1645920"/>
            <a:ext cx="11064240" cy="224028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stall-code"/>
          <p:cNvSpPr txBox="1"/>
          <p:nvPr/>
        </p:nvSpPr>
        <p:spPr>
          <a:xfrm>
            <a:off x="777240" y="1810512"/>
            <a:ext cx="1060704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python3 -m pip install --user --upgrade \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      https://github.com/MarkJiang-maji/kjob/archive/refs/heads/main.tar.gz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export PATH="$HOME/.local/bin:$PATH"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echo 'export PATH="$HOME/.local/bin:$PATH"' &gt;&gt; ~/.bashrc</a:t>
            </a:r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  # 下次開 Terminal 也有效</a:t>
            </a:r>
          </a:p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kinfo                                                  </a:t>
            </a:r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  # 確認安裝成功</a:t>
            </a:r>
          </a:p>
        </p:txBody>
      </p:sp>
      <p:sp>
        <p:nvSpPr>
          <p:cNvPr id="6" name="card-Python 3.8"/>
          <p:cNvSpPr/>
          <p:nvPr/>
        </p:nvSpPr>
        <p:spPr>
          <a:xfrm>
            <a:off x="548640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Python 3.8"/>
          <p:cNvSpPr txBox="1"/>
          <p:nvPr/>
        </p:nvSpPr>
        <p:spPr>
          <a:xfrm>
            <a:off x="731520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Python 3.8 以上</a:t>
            </a:r>
          </a:p>
        </p:txBody>
      </p:sp>
      <p:sp>
        <p:nvSpPr>
          <p:cNvPr id="8" name="card-body-Python 3.8"/>
          <p:cNvSpPr txBox="1"/>
          <p:nvPr/>
        </p:nvSpPr>
        <p:spPr>
          <a:xfrm>
            <a:off x="731520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pip 會自動安裝 kubernetes 套件，不會動到 PyTorch</a:t>
            </a:r>
          </a:p>
        </p:txBody>
      </p:sp>
      <p:sp>
        <p:nvSpPr>
          <p:cNvPr id="9" name="card-裝在 ~/.loca"/>
          <p:cNvSpPr/>
          <p:nvPr/>
        </p:nvSpPr>
        <p:spPr>
          <a:xfrm>
            <a:off x="4297679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裝在 ~/.loca"/>
          <p:cNvSpPr txBox="1"/>
          <p:nvPr/>
        </p:nvSpPr>
        <p:spPr>
          <a:xfrm>
            <a:off x="4480559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裝在 ~/.local</a:t>
            </a:r>
          </a:p>
        </p:txBody>
      </p:sp>
      <p:sp>
        <p:nvSpPr>
          <p:cNvPr id="11" name="card-body-裝在 ~/.loca"/>
          <p:cNvSpPr txBox="1"/>
          <p:nvPr/>
        </p:nvSpPr>
        <p:spPr>
          <a:xfrm>
            <a:off x="4480559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在你的工作磁碟上，Notebook 重開仍然在</a:t>
            </a:r>
          </a:p>
        </p:txBody>
      </p:sp>
      <p:sp>
        <p:nvSpPr>
          <p:cNvPr id="12" name="card-更新與虛擬環境"/>
          <p:cNvSpPr/>
          <p:nvPr/>
        </p:nvSpPr>
        <p:spPr>
          <a:xfrm>
            <a:off x="8046719" y="42062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更新與虛擬環境"/>
          <p:cNvSpPr txBox="1"/>
          <p:nvPr/>
        </p:nvSpPr>
        <p:spPr>
          <a:xfrm>
            <a:off x="8229599" y="43434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更新與虛擬環境</a:t>
            </a:r>
          </a:p>
        </p:txBody>
      </p:sp>
      <p:sp>
        <p:nvSpPr>
          <p:cNvPr id="14" name="card-body-更新與虛擬環境"/>
          <p:cNvSpPr txBox="1"/>
          <p:nvPr/>
        </p:nvSpPr>
        <p:spPr>
          <a:xfrm>
            <a:off x="8229599" y="4773168"/>
            <a:ext cx="3154680" cy="960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更新：重跑第一行。在虛擬環境內就拿掉 --user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提交前：先看環境與空的 GPU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kinfo 看自己，ksinfo 看叢集</a:t>
            </a:r>
          </a:p>
        </p:txBody>
      </p:sp>
      <p:sp>
        <p:nvSpPr>
          <p:cNvPr id="4" name="env-code-bg"/>
          <p:cNvSpPr/>
          <p:nvPr/>
        </p:nvSpPr>
        <p:spPr>
          <a:xfrm>
            <a:off x="548640" y="1600200"/>
            <a:ext cx="11064240" cy="324612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v-code"/>
          <p:cNvSpPr txBox="1"/>
          <p:nvPr/>
        </p:nvSpPr>
        <p:spPr>
          <a:xfrm>
            <a:off x="777240" y="1764792"/>
            <a:ext cx="10607040" cy="2971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kinfo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notebook  mynb-0  (namespace mxxxxxxx)      image  example.com/pytorch:1.0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  /home/jovyan             nfs nfs.example.com:/export/... </a:t>
            </a:r>
            <a:r>
              <a:rPr sz="1300" b="0" i="0">
                <a:solidFill>
                  <a:srgbClr val="8597A8"/>
                </a:solidFill>
                <a:latin typeface="Consolas"/>
                <a:ea typeface="Microsoft JhengHei"/>
              </a:rPr>
              <a:t>  # 工作看得到的磁碟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  requests.nvidia.com/gpu  0 / 4                       </a:t>
            </a:r>
            <a:r>
              <a:rPr sz="1300" b="0" i="0">
                <a:solidFill>
                  <a:srgbClr val="8597A8"/>
                </a:solidFill>
                <a:latin typeface="Consolas"/>
                <a:ea typeface="Microsoft JhengHei"/>
              </a:rPr>
              <a:t>  # GPU 配額（Notebook 也算）</a:t>
            </a:r>
          </a:p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ksinfo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GPU_TYPE              NODES  GPUS  USED  FREE  WAITING_GPUS  GPU_MEM  NOTE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NVIDIA-RTX-A5000      2      16    16    0     -             24GB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Tesla-V100-SXM2-16GB  2      16    6     10    4 (1 jobs)    16GB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rtxpro6000            1      8     2     6     -             -        restricted</a:t>
            </a:r>
          </a:p>
        </p:txBody>
      </p:sp>
      <p:sp>
        <p:nvSpPr>
          <p:cNvPr id="6" name="card-FREE"/>
          <p:cNvSpPr/>
          <p:nvPr/>
        </p:nvSpPr>
        <p:spPr>
          <a:xfrm>
            <a:off x="548640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FREE"/>
          <p:cNvSpPr txBox="1"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FREE</a:t>
            </a:r>
          </a:p>
        </p:txBody>
      </p:sp>
      <p:sp>
        <p:nvSpPr>
          <p:cNvPr id="8" name="card-body-FREE"/>
          <p:cNvSpPr txBox="1"/>
          <p:nvPr/>
        </p:nvSpPr>
        <p:spPr>
          <a:xfrm>
            <a:off x="731520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現在可用的 GPU 數，選有空位的型號</a:t>
            </a:r>
          </a:p>
        </p:txBody>
      </p:sp>
      <p:sp>
        <p:nvSpPr>
          <p:cNvPr id="9" name="card-WAITING_GP"/>
          <p:cNvSpPr/>
          <p:nvPr/>
        </p:nvSpPr>
        <p:spPr>
          <a:xfrm>
            <a:off x="429767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WAITING_GP"/>
          <p:cNvSpPr txBox="1"/>
          <p:nvPr/>
        </p:nvSpPr>
        <p:spPr>
          <a:xfrm>
            <a:off x="4480559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WAITING_GPUS</a:t>
            </a:r>
          </a:p>
        </p:txBody>
      </p:sp>
      <p:sp>
        <p:nvSpPr>
          <p:cNvPr id="11" name="card-body-WAITING_GP"/>
          <p:cNvSpPr txBox="1"/>
          <p:nvPr/>
        </p:nvSpPr>
        <p:spPr>
          <a:xfrm>
            <a:off x="448055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正在排隊等這種 GPU 的需求</a:t>
            </a:r>
          </a:p>
        </p:txBody>
      </p:sp>
      <p:sp>
        <p:nvSpPr>
          <p:cNvPr id="12" name="card-restricted"/>
          <p:cNvSpPr/>
          <p:nvPr/>
        </p:nvSpPr>
        <p:spPr>
          <a:xfrm>
            <a:off x="804671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restricted"/>
          <p:cNvSpPr txBox="1"/>
          <p:nvPr/>
        </p:nvSpPr>
        <p:spPr>
          <a:xfrm>
            <a:off x="8229599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restricted</a:t>
            </a:r>
          </a:p>
        </p:txBody>
      </p:sp>
      <p:sp>
        <p:nvSpPr>
          <p:cNvPr id="14" name="card-body-restricted"/>
          <p:cNvSpPr txBox="1"/>
          <p:nvPr/>
        </p:nvSpPr>
        <p:spPr>
          <a:xfrm>
            <a:off x="822959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需管理員開通；沒開通會一直排隊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第一個 GPU 工作：ksrun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提交、即時看輸出、結束後自動清理</a:t>
            </a:r>
          </a:p>
        </p:txBody>
      </p:sp>
      <p:sp>
        <p:nvSpPr>
          <p:cNvPr id="4" name="ksrun-code-bg"/>
          <p:cNvSpPr/>
          <p:nvPr/>
        </p:nvSpPr>
        <p:spPr>
          <a:xfrm>
            <a:off x="548640" y="1600200"/>
            <a:ext cx="7040880" cy="420624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srun-code"/>
          <p:cNvSpPr txBox="1"/>
          <p:nvPr/>
        </p:nvSpPr>
        <p:spPr>
          <a:xfrm>
            <a:off x="777240" y="1764792"/>
            <a:ext cx="65836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ksrun -G 1 -g v100 -c 2 --mem 8Gi gpu_test.py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submitted gpu-test-1a2b3c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gpu-test-1a2b3c running on node-01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[kjob 03:12:05Z] start gpu-test-1a2b3c on node-01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node: node-01 | GPU: Tesla V100-SXM2-16GB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step 1/5 ok</a:t>
            </a:r>
          </a:p>
          <a:p>
            <a:pPr algn="l"/>
            <a:r>
              <a:rPr sz="1500" b="0" i="0">
                <a:solidFill>
                  <a:srgbClr val="8597A8"/>
                </a:solidFill>
                <a:latin typeface="Consolas"/>
                <a:ea typeface="Microsoft JhengHei"/>
              </a:rPr>
              <a:t>…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step 5/5 ok</a:t>
            </a:r>
          </a:p>
          <a:p>
            <a:pPr algn="l"/>
            <a:r>
              <a:rPr sz="1500" b="0" i="0">
                <a:solidFill>
                  <a:srgbClr val="4FD69C"/>
                </a:solidFill>
                <a:latin typeface="Consolas"/>
                <a:ea typeface="Microsoft JhengHei"/>
              </a:rPr>
              <a:t>kjob: gpu-test-1a2b3c Succeeded (exit code 0)</a:t>
            </a:r>
          </a:p>
        </p:txBody>
      </p:sp>
      <p:sp>
        <p:nvSpPr>
          <p:cNvPr id="6" name="opt-0"/>
          <p:cNvSpPr/>
          <p:nvPr/>
        </p:nvSpPr>
        <p:spPr>
          <a:xfrm>
            <a:off x="7863840" y="1600200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t-h-0"/>
          <p:cNvSpPr txBox="1"/>
          <p:nvPr/>
        </p:nvSpPr>
        <p:spPr>
          <a:xfrm>
            <a:off x="8046720" y="169164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-G 1</a:t>
            </a:r>
          </a:p>
        </p:txBody>
      </p:sp>
      <p:sp>
        <p:nvSpPr>
          <p:cNvPr id="8" name="opt-b-0"/>
          <p:cNvSpPr txBox="1"/>
          <p:nvPr/>
        </p:nvSpPr>
        <p:spPr>
          <a:xfrm>
            <a:off x="8046720" y="2075688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使用 1 張 GPU</a:t>
            </a:r>
          </a:p>
        </p:txBody>
      </p:sp>
      <p:sp>
        <p:nvSpPr>
          <p:cNvPr id="9" name="opt-1"/>
          <p:cNvSpPr/>
          <p:nvPr/>
        </p:nvSpPr>
        <p:spPr>
          <a:xfrm>
            <a:off x="7863840" y="2679191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t-h-1"/>
          <p:cNvSpPr txBox="1"/>
          <p:nvPr/>
        </p:nvSpPr>
        <p:spPr>
          <a:xfrm>
            <a:off x="8046720" y="2770632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-g v100</a:t>
            </a:r>
          </a:p>
        </p:txBody>
      </p:sp>
      <p:sp>
        <p:nvSpPr>
          <p:cNvPr id="11" name="opt-b-1"/>
          <p:cNvSpPr txBox="1"/>
          <p:nvPr/>
        </p:nvSpPr>
        <p:spPr>
          <a:xfrm>
            <a:off x="8046720" y="3154679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GPU 型號，名稱看 ksinfo</a:t>
            </a:r>
          </a:p>
        </p:txBody>
      </p:sp>
      <p:sp>
        <p:nvSpPr>
          <p:cNvPr id="12" name="opt-2"/>
          <p:cNvSpPr/>
          <p:nvPr/>
        </p:nvSpPr>
        <p:spPr>
          <a:xfrm>
            <a:off x="7863840" y="3758183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pt-h-2"/>
          <p:cNvSpPr txBox="1"/>
          <p:nvPr/>
        </p:nvSpPr>
        <p:spPr>
          <a:xfrm>
            <a:off x="8046720" y="3849623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-c 2 --mem 8Gi</a:t>
            </a:r>
          </a:p>
        </p:txBody>
      </p:sp>
      <p:sp>
        <p:nvSpPr>
          <p:cNvPr id="14" name="opt-b-2"/>
          <p:cNvSpPr txBox="1"/>
          <p:nvPr/>
        </p:nvSpPr>
        <p:spPr>
          <a:xfrm>
            <a:off x="8046720" y="4233671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CPU 核心與記憶體</a:t>
            </a:r>
          </a:p>
        </p:txBody>
      </p:sp>
      <p:sp>
        <p:nvSpPr>
          <p:cNvPr id="15" name="opt-3"/>
          <p:cNvSpPr/>
          <p:nvPr/>
        </p:nvSpPr>
        <p:spPr>
          <a:xfrm>
            <a:off x="7863840" y="4837176"/>
            <a:ext cx="3749039" cy="91440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-h-3"/>
          <p:cNvSpPr txBox="1"/>
          <p:nvPr/>
        </p:nvSpPr>
        <p:spPr>
          <a:xfrm>
            <a:off x="8046720" y="4928616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Ctrl-C</a:t>
            </a:r>
          </a:p>
        </p:txBody>
      </p:sp>
      <p:sp>
        <p:nvSpPr>
          <p:cNvPr id="17" name="opt-b-3"/>
          <p:cNvSpPr txBox="1"/>
          <p:nvPr/>
        </p:nvSpPr>
        <p:spPr>
          <a:xfrm>
            <a:off x="8046720" y="531266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取消工作（ksrun 專屬）</a:t>
            </a:r>
          </a:p>
        </p:txBody>
      </p:sp>
      <p:sp>
        <p:nvSpPr>
          <p:cNvPr id="18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長時間訓練：ksub 背景提交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提交後就可以關掉瀏覽器</a:t>
            </a:r>
          </a:p>
        </p:txBody>
      </p:sp>
      <p:sp>
        <p:nvSpPr>
          <p:cNvPr id="4" name="ksub-code-bg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sub-code"/>
          <p:cNvSpPr txBox="1"/>
          <p:nvPr/>
        </p:nvSpPr>
        <p:spPr>
          <a:xfrm>
            <a:off x="777240" y="1719072"/>
            <a:ext cx="10607040" cy="777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-J resnet -G 1 -g v100 -c 4 --mem 32Gi --shm 8Gi -t 12h train.py --epochs 50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Submitted job resnet  (log: /home/jovyan/kjob-logs/resnet.log)</a:t>
            </a:r>
          </a:p>
        </p:txBody>
      </p:sp>
      <p:graphicFrame>
        <p:nvGraphicFramePr>
          <p:cNvPr id="6" name="opts-l"/>
          <p:cNvGraphicFramePr>
            <a:graphicFrameLocks noGrp="1"/>
          </p:cNvGraphicFramePr>
          <p:nvPr/>
        </p:nvGraphicFramePr>
        <p:xfrm>
          <a:off x="548640" y="288036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選項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意思（預設）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-J NAME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工作名稱（腳本名+亂碼）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-G 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GPU 數（1；0 = 只用 CPU）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-g TYPE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GPU 型號（任何一種）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-c N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CPU 核心（1）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--mem 32Gi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記憶體（2Gi）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pts-r"/>
          <p:cNvGraphicFramePr>
            <a:graphicFrameLocks noGrp="1"/>
          </p:cNvGraphicFramePr>
          <p:nvPr/>
        </p:nvGraphicFramePr>
        <p:xfrm>
          <a:off x="6217920" y="288036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選項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意思（預設）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--shm 8Gi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/dev/shm（256Mi）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-t 12h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時間上限（無）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-w NODE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指定節點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--python PATH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指定 Python／虛擬環境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-D / -o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工作目錄／日誌目錄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ime-note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時間格式：30（分）、2:00:00、1-12:00:00（天-時:分:秒）、12h、2d    完整選項：docs/USER_GUIDE.md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查看自己的工作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工作在背景跑，這些指令隨時可用</a:t>
            </a:r>
          </a:p>
        </p:txBody>
      </p:sp>
      <p:sp>
        <p:nvSpPr>
          <p:cNvPr id="4" name="badge-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1</a:t>
            </a:r>
          </a:p>
        </p:txBody>
      </p:sp>
      <p:sp>
        <p:nvSpPr>
          <p:cNvPr id="5" name="mon-c-0"/>
          <p:cNvSpPr txBox="1"/>
          <p:nvPr/>
        </p:nvSpPr>
        <p:spPr>
          <a:xfrm>
            <a:off x="1188720" y="1600200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kqueue</a:t>
            </a:r>
          </a:p>
        </p:txBody>
      </p:sp>
      <p:sp>
        <p:nvSpPr>
          <p:cNvPr id="6" name="mon-d-0"/>
          <p:cNvSpPr txBox="1"/>
          <p:nvPr/>
        </p:nvSpPr>
        <p:spPr>
          <a:xfrm>
            <a:off x="3566160" y="160020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自己的工作：狀態、節點、GPU</a:t>
            </a:r>
          </a:p>
        </p:txBody>
      </p:sp>
      <p:sp>
        <p:nvSpPr>
          <p:cNvPr id="7" name="badge-2"/>
          <p:cNvSpPr/>
          <p:nvPr/>
        </p:nvSpPr>
        <p:spPr>
          <a:xfrm>
            <a:off x="548640" y="2395727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2</a:t>
            </a:r>
          </a:p>
        </p:txBody>
      </p:sp>
      <p:sp>
        <p:nvSpPr>
          <p:cNvPr id="8" name="mon-c-1"/>
          <p:cNvSpPr txBox="1"/>
          <p:nvPr/>
        </p:nvSpPr>
        <p:spPr>
          <a:xfrm>
            <a:off x="1188720" y="2350008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klogs NAME -f</a:t>
            </a:r>
          </a:p>
        </p:txBody>
      </p:sp>
      <p:sp>
        <p:nvSpPr>
          <p:cNvPr id="9" name="mon-d-1"/>
          <p:cNvSpPr txBox="1"/>
          <p:nvPr/>
        </p:nvSpPr>
        <p:spPr>
          <a:xfrm>
            <a:off x="3566160" y="2350008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即時看輸出（Ctrl-C 只停止觀看）</a:t>
            </a:r>
          </a:p>
        </p:txBody>
      </p:sp>
      <p:sp>
        <p:nvSpPr>
          <p:cNvPr id="10" name="badge-3"/>
          <p:cNvSpPr/>
          <p:nvPr/>
        </p:nvSpPr>
        <p:spPr>
          <a:xfrm>
            <a:off x="548640" y="3145535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3</a:t>
            </a:r>
          </a:p>
        </p:txBody>
      </p:sp>
      <p:sp>
        <p:nvSpPr>
          <p:cNvPr id="11" name="mon-c-2"/>
          <p:cNvSpPr txBox="1"/>
          <p:nvPr/>
        </p:nvSpPr>
        <p:spPr>
          <a:xfrm>
            <a:off x="1188720" y="3099815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kshow NAME</a:t>
            </a:r>
          </a:p>
        </p:txBody>
      </p:sp>
      <p:sp>
        <p:nvSpPr>
          <p:cNvPr id="12" name="mon-d-2"/>
          <p:cNvSpPr txBox="1"/>
          <p:nvPr/>
        </p:nvSpPr>
        <p:spPr>
          <a:xfrm>
            <a:off x="3566160" y="3099815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詳細資訊；排隊太久看這裡的原因</a:t>
            </a:r>
          </a:p>
        </p:txBody>
      </p:sp>
      <p:sp>
        <p:nvSpPr>
          <p:cNvPr id="13" name="badge-4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4</a:t>
            </a:r>
          </a:p>
        </p:txBody>
      </p:sp>
      <p:sp>
        <p:nvSpPr>
          <p:cNvPr id="14" name="mon-c-3"/>
          <p:cNvSpPr txBox="1"/>
          <p:nvPr/>
        </p:nvSpPr>
        <p:spPr>
          <a:xfrm>
            <a:off x="1188720" y="3849624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kwait NAME</a:t>
            </a:r>
          </a:p>
        </p:txBody>
      </p:sp>
      <p:sp>
        <p:nvSpPr>
          <p:cNvPr id="15" name="mon-d-3"/>
          <p:cNvSpPr txBox="1"/>
          <p:nvPr/>
        </p:nvSpPr>
        <p:spPr>
          <a:xfrm>
            <a:off x="3566160" y="3849624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等到結束，回傳程式的結束代碼</a:t>
            </a:r>
          </a:p>
        </p:txBody>
      </p:sp>
      <p:sp>
        <p:nvSpPr>
          <p:cNvPr id="16" name="badge-5"/>
          <p:cNvSpPr/>
          <p:nvPr/>
        </p:nvSpPr>
        <p:spPr>
          <a:xfrm>
            <a:off x="548640" y="4645151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5</a:t>
            </a:r>
          </a:p>
        </p:txBody>
      </p:sp>
      <p:sp>
        <p:nvSpPr>
          <p:cNvPr id="17" name="mon-c-4"/>
          <p:cNvSpPr txBox="1"/>
          <p:nvPr/>
        </p:nvSpPr>
        <p:spPr>
          <a:xfrm>
            <a:off x="1188720" y="4599431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kexec NAME</a:t>
            </a:r>
          </a:p>
        </p:txBody>
      </p:sp>
      <p:sp>
        <p:nvSpPr>
          <p:cNvPr id="18" name="mon-d-4"/>
          <p:cNvSpPr txBox="1"/>
          <p:nvPr/>
        </p:nvSpPr>
        <p:spPr>
          <a:xfrm>
            <a:off x="3566160" y="4599431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在工作裡跑指令（如 nvidia-smi）或開 shell</a:t>
            </a:r>
          </a:p>
        </p:txBody>
      </p:sp>
      <p:sp>
        <p:nvSpPr>
          <p:cNvPr id="19" name="badge-6"/>
          <p:cNvSpPr/>
          <p:nvPr/>
        </p:nvSpPr>
        <p:spPr>
          <a:xfrm>
            <a:off x="548640" y="5394959"/>
            <a:ext cx="457200" cy="457200"/>
          </a:xfrm>
          <a:prstGeom prst="ellipse">
            <a:avLst/>
          </a:prstGeom>
          <a:solidFill>
            <a:srgbClr val="23B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JhengHei"/>
              </a:rPr>
              <a:t>6</a:t>
            </a:r>
          </a:p>
        </p:txBody>
      </p:sp>
      <p:sp>
        <p:nvSpPr>
          <p:cNvPr id="20" name="mon-c-5"/>
          <p:cNvSpPr txBox="1"/>
          <p:nvPr/>
        </p:nvSpPr>
        <p:spPr>
          <a:xfrm>
            <a:off x="1188720" y="5349240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kacct</a:t>
            </a:r>
          </a:p>
        </p:txBody>
      </p:sp>
      <p:sp>
        <p:nvSpPr>
          <p:cNvPr id="21" name="mon-d-5"/>
          <p:cNvSpPr txBox="1"/>
          <p:nvPr/>
        </p:nvSpPr>
        <p:spPr>
          <a:xfrm>
            <a:off x="3566160" y="5349240"/>
            <a:ext cx="3291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歷史紀錄：成功與否、跑了多久</a:t>
            </a:r>
          </a:p>
        </p:txBody>
      </p:sp>
      <p:sp>
        <p:nvSpPr>
          <p:cNvPr id="22" name="mon-code-bg"/>
          <p:cNvSpPr/>
          <p:nvPr/>
        </p:nvSpPr>
        <p:spPr>
          <a:xfrm>
            <a:off x="7086600" y="1600200"/>
            <a:ext cx="4526280" cy="434340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on-code"/>
          <p:cNvSpPr txBox="1"/>
          <p:nvPr/>
        </p:nvSpPr>
        <p:spPr>
          <a:xfrm>
            <a:off x="7315200" y="1764792"/>
            <a:ext cx="4069080" cy="4069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kqueue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NAME    STATE    NODE      GPU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resnet  Running  node-01   1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/>
            </a:r>
          </a:p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kacct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NAME    GPU  STATE      EXIT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demo1   1    COMPLETED  0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resnet  1    RUNNING    -</a:t>
            </a:r>
          </a:p>
          <a:p>
            <a:pPr algn="l"/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probe   1    FAILED     137</a:t>
            </a:r>
          </a:p>
        </p:txBody>
      </p:sp>
      <p:sp>
        <p:nvSpPr>
          <p:cNvPr id="24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整個叢集：誰在用、誰在排隊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例如想知道 RTX PRO 6000 現在的狀況</a:t>
            </a:r>
          </a:p>
        </p:txBody>
      </p:sp>
      <p:sp>
        <p:nvSpPr>
          <p:cNvPr id="4" name="cluster-code-bg"/>
          <p:cNvSpPr/>
          <p:nvPr/>
        </p:nvSpPr>
        <p:spPr>
          <a:xfrm>
            <a:off x="548640" y="1600200"/>
            <a:ext cx="11064240" cy="329184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uster-code"/>
          <p:cNvSpPr txBox="1"/>
          <p:nvPr/>
        </p:nvSpPr>
        <p:spPr>
          <a:xfrm>
            <a:off x="777240" y="1764792"/>
            <a:ext cx="1060704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ksinfo -g rtxpro6000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NODE        GPU_TYPE    GPU(used/total)  CPU(req/total)  MEM_GiB(req/total)  STATE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node-04     rtxpro6000  2/8              16.0/128        128.0/1007.5        up</a:t>
            </a:r>
          </a:p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kqueue -A --state pending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USER       KIND      NAME   STATE    GPU  GPU_TYPE              NODE  TIME  WAITING_FOR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dxxxxxxx   Notebook  nb-01  Pending  4    Tesla-V100-SXM2-16GB  -     2h    Insufficient nvidia.com/gpu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*mxxxxxxx  kjob      exp3   Pending  2    NVIDIA-RTX-A5000      -     5m    Insufficient nvidia.com/gpu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running: 0 workloads / 0 GPUs;  pending: 2 workloads / 6 GPUs   (* = your namespace)</a:t>
            </a:r>
          </a:p>
        </p:txBody>
      </p:sp>
      <p:sp>
        <p:nvSpPr>
          <p:cNvPr id="6" name="card-kqueue -A"/>
          <p:cNvSpPr/>
          <p:nvPr/>
        </p:nvSpPr>
        <p:spPr>
          <a:xfrm>
            <a:off x="548640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-kqueue -A"/>
          <p:cNvSpPr txBox="1"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kqueue -A</a:t>
            </a:r>
          </a:p>
        </p:txBody>
      </p:sp>
      <p:sp>
        <p:nvSpPr>
          <p:cNvPr id="8" name="card-body-kqueue -A"/>
          <p:cNvSpPr txBox="1"/>
          <p:nvPr/>
        </p:nvSpPr>
        <p:spPr>
          <a:xfrm>
            <a:off x="731520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所有使用者的 GPU 工作，USER 是 namespace</a:t>
            </a:r>
          </a:p>
        </p:txBody>
      </p:sp>
      <p:sp>
        <p:nvSpPr>
          <p:cNvPr id="9" name="card--u / -g / "/>
          <p:cNvSpPr/>
          <p:nvPr/>
        </p:nvSpPr>
        <p:spPr>
          <a:xfrm>
            <a:off x="429767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head--u / -g / "/>
          <p:cNvSpPr txBox="1"/>
          <p:nvPr/>
        </p:nvSpPr>
        <p:spPr>
          <a:xfrm>
            <a:off x="4480559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onsolas"/>
                <a:ea typeface="Microsoft JhengHei"/>
              </a:rPr>
              <a:t>-u / -g / --state</a:t>
            </a:r>
          </a:p>
        </p:txBody>
      </p:sp>
      <p:sp>
        <p:nvSpPr>
          <p:cNvPr id="11" name="card-body--u / -g / "/>
          <p:cNvSpPr txBox="1"/>
          <p:nvPr/>
        </p:nvSpPr>
        <p:spPr>
          <a:xfrm>
            <a:off x="448055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篩選使用者、GPU 型號、執行中或排隊中</a:t>
            </a:r>
          </a:p>
        </p:txBody>
      </p:sp>
      <p:sp>
        <p:nvSpPr>
          <p:cNvPr id="12" name="card-資料來源"/>
          <p:cNvSpPr/>
          <p:nvPr/>
        </p:nvSpPr>
        <p:spPr>
          <a:xfrm>
            <a:off x="8046719" y="51206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-head-資料來源"/>
          <p:cNvSpPr txBox="1"/>
          <p:nvPr/>
        </p:nvSpPr>
        <p:spPr>
          <a:xfrm>
            <a:off x="8229599" y="525780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libri"/>
                <a:ea typeface="Microsoft JhengHei"/>
              </a:rPr>
              <a:t>資料來源</a:t>
            </a:r>
          </a:p>
        </p:txBody>
      </p:sp>
      <p:sp>
        <p:nvSpPr>
          <p:cNvPr id="14" name="card-body-資料來源"/>
          <p:cNvSpPr txBox="1"/>
          <p:nvPr/>
        </p:nvSpPr>
        <p:spPr>
          <a:xfrm>
            <a:off x="8229599" y="568756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B2733"/>
                </a:solidFill>
                <a:latin typeface="Calibri"/>
                <a:ea typeface="Microsoft JhengHei"/>
              </a:rPr>
              <a:t>管理員啟用的狀態服務，每 30 秒更新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交自己的程式：把設定寫在腳本裡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國網的 #SBATCH 可以直接用，命令列選項優先</a:t>
            </a:r>
          </a:p>
        </p:txBody>
      </p:sp>
      <p:sp>
        <p:nvSpPr>
          <p:cNvPr id="4" name="script-code-bg"/>
          <p:cNvSpPr/>
          <p:nvPr/>
        </p:nvSpPr>
        <p:spPr>
          <a:xfrm>
            <a:off x="548640" y="1600200"/>
            <a:ext cx="6309360" cy="434340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ript-code"/>
          <p:cNvSpPr txBox="1"/>
          <p:nvPr/>
        </p:nvSpPr>
        <p:spPr>
          <a:xfrm>
            <a:off x="777240" y="1764792"/>
            <a:ext cx="5852160" cy="4069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#!/bin/bash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-J resnet50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--gres=gpu:v100:2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-c 8 --mem=64G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#SBATCH -t 1-00:00:00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#KJOB --shm 16Gi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set -e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cd /home/jovyan/project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source /home/jovyan/venv/bin/activate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torchrun --standalone \</a:t>
            </a:r>
          </a:p>
          <a:p>
            <a:pPr algn="l"/>
            <a:r>
              <a:rPr sz="1500" b="0" i="0">
                <a:solidFill>
                  <a:srgbClr val="DCE6EE"/>
                </a:solidFill>
                <a:latin typeface="Consolas"/>
                <a:ea typeface="Microsoft JhengHei"/>
              </a:rPr>
              <a:t>  --nproc_per_node=2 train.py</a:t>
            </a:r>
          </a:p>
        </p:txBody>
      </p:sp>
      <p:sp>
        <p:nvSpPr>
          <p:cNvPr id="6" name="script-run-bg"/>
          <p:cNvSpPr/>
          <p:nvPr/>
        </p:nvSpPr>
        <p:spPr>
          <a:xfrm>
            <a:off x="7132320" y="1600200"/>
            <a:ext cx="4480560" cy="105156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cript-run"/>
          <p:cNvSpPr txBox="1"/>
          <p:nvPr/>
        </p:nvSpPr>
        <p:spPr>
          <a:xfrm>
            <a:off x="7360920" y="1764792"/>
            <a:ext cx="4023360" cy="7772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train.sh</a:t>
            </a:r>
          </a:p>
          <a:p>
            <a:pPr algn="l"/>
            <a:r>
              <a:rPr sz="14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400" b="0" i="0">
                <a:solidFill>
                  <a:srgbClr val="DCE6EE"/>
                </a:solidFill>
                <a:latin typeface="Consolas"/>
                <a:ea typeface="Microsoft JhengHei"/>
              </a:rPr>
              <a:t>ksub -G 1 train.sh </a:t>
            </a:r>
            <a:r>
              <a:rPr sz="1400" b="0" i="0">
                <a:solidFill>
                  <a:srgbClr val="8597A8"/>
                </a:solidFill>
                <a:latin typeface="Consolas"/>
                <a:ea typeface="Microsoft JhengHei"/>
              </a:rPr>
              <a:t>  # 這次只要 1 張</a:t>
            </a:r>
          </a:p>
        </p:txBody>
      </p:sp>
      <p:sp>
        <p:nvSpPr>
          <p:cNvPr id="8" name="script-tips"/>
          <p:cNvSpPr txBox="1"/>
          <p:nvPr/>
        </p:nvSpPr>
        <p:spPr>
          <a:xfrm>
            <a:off x="7132320" y="2880360"/>
            <a:ext cx="448056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用絕對路徑；程式、資料、輸出放在 /home/jovyan 或群組資料夾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多張 GPU 要程式支援（torchrun / DDP）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套件用 pip install --user 或在 /home/jovyan 建虛擬環境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-p、-A、--mail 等國網專用選項會略過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排隊太久？跑失敗？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先用 kshow NAME 看原因</a:t>
            </a:r>
          </a:p>
        </p:txBody>
      </p:sp>
      <p:graphicFrame>
        <p:nvGraphicFramePr>
          <p:cNvPr id="4" name="pend"/>
          <p:cNvGraphicFramePr>
            <a:graphicFrameLocks noGrp="1"/>
          </p:cNvGraphicFramePr>
          <p:nvPr/>
        </p:nvGraphicFramePr>
        <p:xfrm>
          <a:off x="548640" y="1600200"/>
          <a:ext cx="544068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6040"/>
                <a:gridCol w="2834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排隊訊息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怎麼辦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Insufficient nvidia.com/gpu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該型號滿了：等，或換有空位的型號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exceeded quota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配額用完：關掉閒置的 GPU Notebook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untolerated taint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受限節點，沒有權限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didn't match ... affinity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-g / -w 名稱錯了，看 ksinfo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fail"/>
          <p:cNvGraphicFramePr>
            <a:graphicFrameLocks noGrp="1"/>
          </p:cNvGraphicFramePr>
          <p:nvPr/>
        </p:nvGraphicFramePr>
        <p:xfrm>
          <a:off x="6172200" y="1600200"/>
          <a:ext cx="544068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失敗訊息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怎麼辦</a:t>
                      </a:r>
                    </a:p>
                  </a:txBody>
                  <a:tcPr marL="91440" marR="91440" marT="36576" marB="36576" anchor="ctr">
                    <a:solidFill>
                      <a:srgbClr val="1E2E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exit code 137 OOMKilled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記憶體不足：加大 --mem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Bus error / DataLoader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共享記憶體不足：加大 --shm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CUDA out of memory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減小 batch 或換大記憶體 GPU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B6B45"/>
                          </a:solidFill>
                          <a:latin typeface="Consolas"/>
                          <a:ea typeface="Microsoft JhengHei"/>
                        </a:rPr>
                        <a:t>DeadlineExceeded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2733"/>
                          </a:solidFill>
                          <a:latin typeface="Calibri"/>
                          <a:ea typeface="Microsoft JhengHei"/>
                        </a:rPr>
                        <a:t>超過 -t：加大 -t 或續跑</a:t>
                      </a:r>
                    </a:p>
                  </a:txBody>
                  <a:tcPr marL="91440" marR="91440" marT="36576" marB="36576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ip-box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p"/>
          <p:cNvSpPr txBox="1"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6B45"/>
                </a:solidFill>
                <a:latin typeface="Calibri"/>
                <a:ea typeface="Microsoft JhengHei"/>
              </a:rPr>
              <a:t>小技巧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-t 時間到或 kcancel 時程式會收到 SIGTERM，有 30 秒存 checkpoint；kacct 會顯示 STOPPED。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讓 AI 助手幫你提交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裝好 kjob 就自動裝好 skill，用一句話描述需求</a:t>
            </a:r>
          </a:p>
        </p:txBody>
      </p:sp>
      <p:sp>
        <p:nvSpPr>
          <p:cNvPr id="4" name="ai-code-bg"/>
          <p:cNvSpPr/>
          <p:nvPr/>
        </p:nvSpPr>
        <p:spPr>
          <a:xfrm>
            <a:off x="548640" y="160020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0E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i-code"/>
          <p:cNvSpPr txBox="1"/>
          <p:nvPr/>
        </p:nvSpPr>
        <p:spPr>
          <a:xfrm>
            <a:off x="777240" y="1764792"/>
            <a:ext cx="5029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FD69C"/>
                </a:solidFill>
                <a:latin typeface="Consolas"/>
                <a:ea typeface="Microsoft JhengHei"/>
              </a:rPr>
              <a:t>$ </a:t>
            </a:r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kinfo</a:t>
            </a:r>
          </a:p>
          <a:p>
            <a:pPr algn="l"/>
            <a:r>
              <a:rPr sz="1300" b="0" i="0">
                <a:solidFill>
                  <a:srgbClr val="4FD69C"/>
                </a:solidFill>
                <a:latin typeface="Consolas"/>
                <a:ea typeface="Microsoft JhengHei"/>
              </a:rPr>
              <a:t>kjob: installed AI skills in ~/.agents/skills,</a:t>
            </a:r>
          </a:p>
          <a:p>
            <a:pPr algn="l"/>
            <a:r>
              <a:rPr sz="1300" b="0" i="0">
                <a:solidFill>
                  <a:srgbClr val="DCE6EE"/>
                </a:solidFill>
                <a:latin typeface="Consolas"/>
                <a:ea typeface="Microsoft JhengHei"/>
              </a:rPr>
              <a:t>      linked from ~/.claude/skills</a:t>
            </a:r>
          </a:p>
        </p:txBody>
      </p:sp>
      <p:sp>
        <p:nvSpPr>
          <p:cNvPr id="6" name="bubble-user"/>
          <p:cNvSpPr/>
          <p:nvPr/>
        </p:nvSpPr>
        <p:spPr>
          <a:xfrm>
            <a:off x="548640" y="2880360"/>
            <a:ext cx="5486400" cy="109728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bble-user-t"/>
          <p:cNvSpPr txBox="1"/>
          <p:nvPr/>
        </p:nvSpPr>
        <p:spPr>
          <a:xfrm>
            <a:off x="731520" y="2971800"/>
            <a:ext cx="51206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  <a:ea typeface="Microsoft JhengHei"/>
              </a:rPr>
              <a:t>你：</a:t>
            </a:r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用 kjob 幫我把 train.py 交到有空的 V100，2 張 GPU、跑 12 小時</a:t>
            </a:r>
          </a:p>
        </p:txBody>
      </p:sp>
      <p:sp>
        <p:nvSpPr>
          <p:cNvPr id="8" name="bubble-ai"/>
          <p:cNvSpPr/>
          <p:nvPr/>
        </p:nvSpPr>
        <p:spPr>
          <a:xfrm>
            <a:off x="548640" y="416052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bble-ai-t"/>
          <p:cNvSpPr txBox="1"/>
          <p:nvPr/>
        </p:nvSpPr>
        <p:spPr>
          <a:xfrm>
            <a:off x="731520" y="425196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Calibri"/>
                <a:ea typeface="Microsoft JhengHei"/>
              </a:rPr>
              <a:t>AI：</a:t>
            </a:r>
          </a:p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ksinfo 確認 V100 有空 → 檢查路徑與參數 →</a:t>
            </a:r>
          </a:p>
          <a:p>
            <a:pPr algn="l"/>
            <a:r>
              <a:rPr sz="1500" b="0" i="0">
                <a:solidFill>
                  <a:srgbClr val="0B6B45"/>
                </a:solidFill>
                <a:latin typeface="Consolas"/>
                <a:ea typeface="Microsoft JhengHei"/>
              </a:rPr>
              <a:t>ksub -G 2 -g v100 -t 12h train.sh</a:t>
            </a:r>
          </a:p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→ 回報工作名稱與日誌位置</a:t>
            </a:r>
          </a:p>
        </p:txBody>
      </p:sp>
      <p:sp>
        <p:nvSpPr>
          <p:cNvPr id="10" name="ai-rules-h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libri"/>
                <a:ea typeface="Microsoft JhengHei"/>
              </a:rPr>
              <a:t>skill 規定 AI：</a:t>
            </a:r>
          </a:p>
        </p:txBody>
      </p:sp>
      <p:sp>
        <p:nvSpPr>
          <p:cNvPr id="11" name="ai-rules"/>
          <p:cNvSpPr txBox="1"/>
          <p:nvPr/>
        </p:nvSpPr>
        <p:spPr>
          <a:xfrm>
            <a:off x="6400800" y="2148840"/>
            <a:ext cx="521208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只動你自己的工作，不取消別人的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資源要剛好，不搶整台 GPU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長時間工作一定加 -t 時間上限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刪除多個工作前先問你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3B26D"/>
                </a:solidFill>
                <a:latin typeface="Calibri"/>
                <a:ea typeface="Microsoft JhengHei"/>
              </a:rPr>
              <a:t>✓  </a:t>
            </a:r>
            <a:r>
              <a:rPr sz="1600" b="0" i="0">
                <a:solidFill>
                  <a:srgbClr val="1B2733"/>
                </a:solidFill>
                <a:latin typeface="Calibri"/>
                <a:ea typeface="Microsoft JhengHei"/>
              </a:rPr>
              <a:t>提交後回報名稱、型號、日誌路徑</a:t>
            </a:r>
          </a:p>
        </p:txBody>
      </p:sp>
      <p:sp>
        <p:nvSpPr>
          <p:cNvPr id="12" name="ai-note"/>
          <p:cNvSpPr txBox="1"/>
          <p:nvPr/>
        </p:nvSpPr>
        <p:spPr>
          <a:xfrm>
            <a:off x="6400800" y="512064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6677A"/>
                </a:solidFill>
                <a:latin typeface="Calibri"/>
                <a:ea typeface="Microsoft JhengHei"/>
              </a:rPr>
              <a:t>還沒安裝 kjob？請 AI 讀 kjob/skills/kjob-install/SKILL.md 照做</a:t>
            </a:r>
          </a:p>
        </p:txBody>
      </p:sp>
      <p:sp>
        <p:nvSpPr>
          <p:cNvPr id="13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2733"/>
                </a:solidFill>
                <a:latin typeface="Calibri"/>
                <a:ea typeface="Microsoft JhengHei"/>
              </a:rPr>
              <a:t>指令總整理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56677A"/>
                </a:solidFill>
                <a:latin typeface="Calibri"/>
                <a:ea typeface="Microsoft JhengHei"/>
              </a:rPr>
              <a:t>kjob 子指令也可以用：kjob submit = ksub、kjob sinfo = ksinfo</a:t>
            </a:r>
          </a:p>
        </p:txBody>
      </p:sp>
      <p:sp>
        <p:nvSpPr>
          <p:cNvPr id="4" name="cheat-0"/>
          <p:cNvSpPr/>
          <p:nvPr/>
        </p:nvSpPr>
        <p:spPr>
          <a:xfrm>
            <a:off x="548640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at-c-0"/>
          <p:cNvSpPr txBox="1"/>
          <p:nvPr/>
        </p:nvSpPr>
        <p:spPr>
          <a:xfrm>
            <a:off x="731520" y="181051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ksub</a:t>
            </a:r>
          </a:p>
        </p:txBody>
      </p:sp>
      <p:sp>
        <p:nvSpPr>
          <p:cNvPr id="6" name="cheat-d-0"/>
          <p:cNvSpPr txBox="1"/>
          <p:nvPr/>
        </p:nvSpPr>
        <p:spPr>
          <a:xfrm>
            <a:off x="731520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背景提交</a:t>
            </a:r>
          </a:p>
        </p:txBody>
      </p:sp>
      <p:sp>
        <p:nvSpPr>
          <p:cNvPr id="7" name="cheat-1"/>
          <p:cNvSpPr/>
          <p:nvPr/>
        </p:nvSpPr>
        <p:spPr>
          <a:xfrm>
            <a:off x="3355848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at-c-1"/>
          <p:cNvSpPr txBox="1"/>
          <p:nvPr/>
        </p:nvSpPr>
        <p:spPr>
          <a:xfrm>
            <a:off x="3538728" y="181051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ksrun</a:t>
            </a:r>
          </a:p>
        </p:txBody>
      </p:sp>
      <p:sp>
        <p:nvSpPr>
          <p:cNvPr id="9" name="cheat-d-1"/>
          <p:cNvSpPr txBox="1"/>
          <p:nvPr/>
        </p:nvSpPr>
        <p:spPr>
          <a:xfrm>
            <a:off x="3538728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提交並即時看</a:t>
            </a:r>
          </a:p>
        </p:txBody>
      </p:sp>
      <p:sp>
        <p:nvSpPr>
          <p:cNvPr id="10" name="cheat-2"/>
          <p:cNvSpPr/>
          <p:nvPr/>
        </p:nvSpPr>
        <p:spPr>
          <a:xfrm>
            <a:off x="6163055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at-c-2"/>
          <p:cNvSpPr txBox="1"/>
          <p:nvPr/>
        </p:nvSpPr>
        <p:spPr>
          <a:xfrm>
            <a:off x="6345936" y="181051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kqueue</a:t>
            </a:r>
          </a:p>
        </p:txBody>
      </p:sp>
      <p:sp>
        <p:nvSpPr>
          <p:cNvPr id="12" name="cheat-d-2"/>
          <p:cNvSpPr txBox="1"/>
          <p:nvPr/>
        </p:nvSpPr>
        <p:spPr>
          <a:xfrm>
            <a:off x="6345936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我的工作</a:t>
            </a:r>
          </a:p>
        </p:txBody>
      </p:sp>
      <p:sp>
        <p:nvSpPr>
          <p:cNvPr id="13" name="cheat-3"/>
          <p:cNvSpPr/>
          <p:nvPr/>
        </p:nvSpPr>
        <p:spPr>
          <a:xfrm>
            <a:off x="8970263" y="16459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at-c-3"/>
          <p:cNvSpPr txBox="1"/>
          <p:nvPr/>
        </p:nvSpPr>
        <p:spPr>
          <a:xfrm>
            <a:off x="9153143" y="181051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kqueue -A</a:t>
            </a:r>
          </a:p>
        </p:txBody>
      </p:sp>
      <p:sp>
        <p:nvSpPr>
          <p:cNvPr id="15" name="cheat-d-3"/>
          <p:cNvSpPr txBox="1"/>
          <p:nvPr/>
        </p:nvSpPr>
        <p:spPr>
          <a:xfrm>
            <a:off x="9153143" y="230428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全叢集工作</a:t>
            </a:r>
          </a:p>
        </p:txBody>
      </p:sp>
      <p:sp>
        <p:nvSpPr>
          <p:cNvPr id="16" name="cheat-4"/>
          <p:cNvSpPr/>
          <p:nvPr/>
        </p:nvSpPr>
        <p:spPr>
          <a:xfrm>
            <a:off x="548640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at-c-4"/>
          <p:cNvSpPr txBox="1"/>
          <p:nvPr/>
        </p:nvSpPr>
        <p:spPr>
          <a:xfrm>
            <a:off x="731520" y="327355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ksinfo</a:t>
            </a:r>
          </a:p>
        </p:txBody>
      </p:sp>
      <p:sp>
        <p:nvSpPr>
          <p:cNvPr id="18" name="cheat-d-4"/>
          <p:cNvSpPr txBox="1"/>
          <p:nvPr/>
        </p:nvSpPr>
        <p:spPr>
          <a:xfrm>
            <a:off x="731520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GPU 空位</a:t>
            </a:r>
          </a:p>
        </p:txBody>
      </p:sp>
      <p:sp>
        <p:nvSpPr>
          <p:cNvPr id="19" name="cheat-5"/>
          <p:cNvSpPr/>
          <p:nvPr/>
        </p:nvSpPr>
        <p:spPr>
          <a:xfrm>
            <a:off x="3355848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at-c-5"/>
          <p:cNvSpPr txBox="1"/>
          <p:nvPr/>
        </p:nvSpPr>
        <p:spPr>
          <a:xfrm>
            <a:off x="3538728" y="327355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kshow NAME</a:t>
            </a:r>
          </a:p>
        </p:txBody>
      </p:sp>
      <p:sp>
        <p:nvSpPr>
          <p:cNvPr id="21" name="cheat-d-5"/>
          <p:cNvSpPr txBox="1"/>
          <p:nvPr/>
        </p:nvSpPr>
        <p:spPr>
          <a:xfrm>
            <a:off x="3538728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工作詳細</a:t>
            </a:r>
          </a:p>
        </p:txBody>
      </p:sp>
      <p:sp>
        <p:nvSpPr>
          <p:cNvPr id="22" name="cheat-6"/>
          <p:cNvSpPr/>
          <p:nvPr/>
        </p:nvSpPr>
        <p:spPr>
          <a:xfrm>
            <a:off x="6163055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at-c-6"/>
          <p:cNvSpPr txBox="1"/>
          <p:nvPr/>
        </p:nvSpPr>
        <p:spPr>
          <a:xfrm>
            <a:off x="6345936" y="327355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klogs NAME -f</a:t>
            </a:r>
          </a:p>
        </p:txBody>
      </p:sp>
      <p:sp>
        <p:nvSpPr>
          <p:cNvPr id="24" name="cheat-d-6"/>
          <p:cNvSpPr txBox="1"/>
          <p:nvPr/>
        </p:nvSpPr>
        <p:spPr>
          <a:xfrm>
            <a:off x="6345936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即時輸出</a:t>
            </a:r>
          </a:p>
        </p:txBody>
      </p:sp>
      <p:sp>
        <p:nvSpPr>
          <p:cNvPr id="25" name="cheat-7"/>
          <p:cNvSpPr/>
          <p:nvPr/>
        </p:nvSpPr>
        <p:spPr>
          <a:xfrm>
            <a:off x="8970263" y="31089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at-c-7"/>
          <p:cNvSpPr txBox="1"/>
          <p:nvPr/>
        </p:nvSpPr>
        <p:spPr>
          <a:xfrm>
            <a:off x="9153143" y="327355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kwait NAME</a:t>
            </a:r>
          </a:p>
        </p:txBody>
      </p:sp>
      <p:sp>
        <p:nvSpPr>
          <p:cNvPr id="27" name="cheat-d-7"/>
          <p:cNvSpPr txBox="1"/>
          <p:nvPr/>
        </p:nvSpPr>
        <p:spPr>
          <a:xfrm>
            <a:off x="9153143" y="376732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等待結束</a:t>
            </a:r>
          </a:p>
        </p:txBody>
      </p:sp>
      <p:sp>
        <p:nvSpPr>
          <p:cNvPr id="28" name="cheat-8"/>
          <p:cNvSpPr/>
          <p:nvPr/>
        </p:nvSpPr>
        <p:spPr>
          <a:xfrm>
            <a:off x="548640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at-c-8"/>
          <p:cNvSpPr txBox="1"/>
          <p:nvPr/>
        </p:nvSpPr>
        <p:spPr>
          <a:xfrm>
            <a:off x="731520" y="473659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kacct</a:t>
            </a:r>
          </a:p>
        </p:txBody>
      </p:sp>
      <p:sp>
        <p:nvSpPr>
          <p:cNvPr id="30" name="cheat-d-8"/>
          <p:cNvSpPr txBox="1"/>
          <p:nvPr/>
        </p:nvSpPr>
        <p:spPr>
          <a:xfrm>
            <a:off x="731520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歷史紀錄</a:t>
            </a:r>
          </a:p>
        </p:txBody>
      </p:sp>
      <p:sp>
        <p:nvSpPr>
          <p:cNvPr id="31" name="cheat-9"/>
          <p:cNvSpPr/>
          <p:nvPr/>
        </p:nvSpPr>
        <p:spPr>
          <a:xfrm>
            <a:off x="3355848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at-c-9"/>
          <p:cNvSpPr txBox="1"/>
          <p:nvPr/>
        </p:nvSpPr>
        <p:spPr>
          <a:xfrm>
            <a:off x="3538728" y="473659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kcancel NAME</a:t>
            </a:r>
          </a:p>
        </p:txBody>
      </p:sp>
      <p:sp>
        <p:nvSpPr>
          <p:cNvPr id="33" name="cheat-d-9"/>
          <p:cNvSpPr txBox="1"/>
          <p:nvPr/>
        </p:nvSpPr>
        <p:spPr>
          <a:xfrm>
            <a:off x="3538728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取消工作</a:t>
            </a:r>
          </a:p>
        </p:txBody>
      </p:sp>
      <p:sp>
        <p:nvSpPr>
          <p:cNvPr id="34" name="cheat-10"/>
          <p:cNvSpPr/>
          <p:nvPr/>
        </p:nvSpPr>
        <p:spPr>
          <a:xfrm>
            <a:off x="6163055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eat-c-10"/>
          <p:cNvSpPr txBox="1"/>
          <p:nvPr/>
        </p:nvSpPr>
        <p:spPr>
          <a:xfrm>
            <a:off x="6345936" y="473659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kexec NAME</a:t>
            </a:r>
          </a:p>
        </p:txBody>
      </p:sp>
      <p:sp>
        <p:nvSpPr>
          <p:cNvPr id="36" name="cheat-d-10"/>
          <p:cNvSpPr txBox="1"/>
          <p:nvPr/>
        </p:nvSpPr>
        <p:spPr>
          <a:xfrm>
            <a:off x="6345936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進到工作裡</a:t>
            </a:r>
          </a:p>
        </p:txBody>
      </p:sp>
      <p:sp>
        <p:nvSpPr>
          <p:cNvPr id="37" name="cheat-11"/>
          <p:cNvSpPr/>
          <p:nvPr/>
        </p:nvSpPr>
        <p:spPr>
          <a:xfrm>
            <a:off x="8970263" y="457200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at-c-11"/>
          <p:cNvSpPr txBox="1"/>
          <p:nvPr/>
        </p:nvSpPr>
        <p:spPr>
          <a:xfrm>
            <a:off x="9153143" y="4736592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6B45"/>
                </a:solidFill>
                <a:latin typeface="Consolas"/>
                <a:ea typeface="Microsoft JhengHei"/>
              </a:rPr>
              <a:t>kinfo</a:t>
            </a:r>
          </a:p>
        </p:txBody>
      </p:sp>
      <p:sp>
        <p:nvSpPr>
          <p:cNvPr id="39" name="cheat-d-11"/>
          <p:cNvSpPr txBox="1"/>
          <p:nvPr/>
        </p:nvSpPr>
        <p:spPr>
          <a:xfrm>
            <a:off x="9153143" y="5230368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1B2733"/>
                </a:solidFill>
                <a:latin typeface="Calibri"/>
                <a:ea typeface="Microsoft JhengHei"/>
              </a:rPr>
              <a:t>我的環境與配額</a:t>
            </a:r>
          </a:p>
        </p:txBody>
      </p:sp>
      <p:sp>
        <p:nvSpPr>
          <p:cNvPr id="40" name="pageno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56677A"/>
                </a:solidFill>
                <a:latin typeface="Calibri"/>
                <a:ea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-title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  <a:ea typeface="Microsoft JhengHei"/>
              </a:rPr>
              <a:t>文件與下一步</a:t>
            </a:r>
          </a:p>
        </p:txBody>
      </p:sp>
      <p:sp>
        <p:nvSpPr>
          <p:cNvPr id="3" name="doc-f-0"/>
          <p:cNvSpPr txBox="1"/>
          <p:nvPr/>
        </p:nvSpPr>
        <p:spPr>
          <a:xfrm>
            <a:off x="731520" y="1920240"/>
            <a:ext cx="4023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README.md</a:t>
            </a:r>
          </a:p>
        </p:txBody>
      </p:sp>
      <p:sp>
        <p:nvSpPr>
          <p:cNvPr id="4" name="doc-d-0"/>
          <p:cNvSpPr txBox="1"/>
          <p:nvPr/>
        </p:nvSpPr>
        <p:spPr>
          <a:xfrm>
            <a:off x="4846320" y="1920240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簡介、安裝、指令一覽</a:t>
            </a:r>
          </a:p>
        </p:txBody>
      </p:sp>
      <p:sp>
        <p:nvSpPr>
          <p:cNvPr id="5" name="doc-f-1"/>
          <p:cNvSpPr txBox="1"/>
          <p:nvPr/>
        </p:nvSpPr>
        <p:spPr>
          <a:xfrm>
            <a:off x="731520" y="2633472"/>
            <a:ext cx="4023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TRIAL_GUIDE.md</a:t>
            </a:r>
          </a:p>
        </p:txBody>
      </p:sp>
      <p:sp>
        <p:nvSpPr>
          <p:cNvPr id="6" name="doc-d-1"/>
          <p:cNvSpPr txBox="1"/>
          <p:nvPr/>
        </p:nvSpPr>
        <p:spPr>
          <a:xfrm>
            <a:off x="4846320" y="2633472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10 分鐘新手上手</a:t>
            </a:r>
          </a:p>
        </p:txBody>
      </p:sp>
      <p:sp>
        <p:nvSpPr>
          <p:cNvPr id="7" name="doc-f-2"/>
          <p:cNvSpPr txBox="1"/>
          <p:nvPr/>
        </p:nvSpPr>
        <p:spPr>
          <a:xfrm>
            <a:off x="731520" y="3346704"/>
            <a:ext cx="4023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docs/USER_GUIDE.md</a:t>
            </a:r>
          </a:p>
        </p:txBody>
      </p:sp>
      <p:sp>
        <p:nvSpPr>
          <p:cNvPr id="8" name="doc-d-2"/>
          <p:cNvSpPr txBox="1"/>
          <p:nvPr/>
        </p:nvSpPr>
        <p:spPr>
          <a:xfrm>
            <a:off x="4846320" y="3346704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所有指令與選項、排錯</a:t>
            </a:r>
          </a:p>
        </p:txBody>
      </p:sp>
      <p:sp>
        <p:nvSpPr>
          <p:cNvPr id="9" name="doc-f-3"/>
          <p:cNvSpPr txBox="1"/>
          <p:nvPr/>
        </p:nvSpPr>
        <p:spPr>
          <a:xfrm>
            <a:off x="731520" y="4059935"/>
            <a:ext cx="4023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docs/ADMIN.md</a:t>
            </a:r>
          </a:p>
        </p:txBody>
      </p:sp>
      <p:sp>
        <p:nvSpPr>
          <p:cNvPr id="10" name="doc-d-3"/>
          <p:cNvSpPr txBox="1"/>
          <p:nvPr/>
        </p:nvSpPr>
        <p:spPr>
          <a:xfrm>
            <a:off x="4846320" y="4059935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管理員：權限、叢集狀態服務</a:t>
            </a:r>
          </a:p>
        </p:txBody>
      </p:sp>
      <p:sp>
        <p:nvSpPr>
          <p:cNvPr id="11" name="doc-f-4"/>
          <p:cNvSpPr txBox="1"/>
          <p:nvPr/>
        </p:nvSpPr>
        <p:spPr>
          <a:xfrm>
            <a:off x="731520" y="4773168"/>
            <a:ext cx="40233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4FD69C"/>
                </a:solidFill>
                <a:latin typeface="Consolas"/>
                <a:ea typeface="Microsoft JhengHei"/>
              </a:rPr>
              <a:t>kjob/skills/</a:t>
            </a:r>
          </a:p>
        </p:txBody>
      </p:sp>
      <p:sp>
        <p:nvSpPr>
          <p:cNvPr id="12" name="doc-d-4"/>
          <p:cNvSpPr txBox="1"/>
          <p:nvPr/>
        </p:nvSpPr>
        <p:spPr>
          <a:xfrm>
            <a:off x="4846320" y="4773168"/>
            <a:ext cx="64008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CE6EE"/>
                </a:solidFill>
                <a:latin typeface="Calibri"/>
                <a:ea typeface="Microsoft JhengHei"/>
              </a:rPr>
              <a:t>AI 助手 skill</a:t>
            </a:r>
          </a:p>
        </p:txBody>
      </p:sp>
      <p:sp>
        <p:nvSpPr>
          <p:cNvPr id="13" name="end-url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597A8"/>
                </a:solidFill>
                <a:latin typeface="Calibri"/>
                <a:ea typeface="Microsoft JhengHei"/>
              </a:rPr>
              <a:t>github.com/MarkJiang-maji/kjob  ·  問題請開 GitHub Issue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kjob 教學：在 Notebook 提交 GPU 工作</dc:title>
  <dc:subject/>
  <dc:creator>kjob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